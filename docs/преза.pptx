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работающий сервис: на вход — закупка, на выход — список с ролью, статусом, причинами и источником каждого факта. Покажем, как он устроен, насколько точен и откуда данные. Если спросят про 14 источников. ФНС: 1) ЕГРЮЛ/ЕГРИП, 2) «Прозрачный бизнес», 3) реестр МСП, 4) ГИР БО, 5) открытые данные ФНС о численности, налогах, долгах и штрафах. ЕИС: 6) реестр недобросовестных поставщиков, 7) карточки контрактов (контакты). Минпромторг: 8) ГИСП, 9) реестр промышленной продукции (ПП 719). 10) Реестр российского ПО. Росздравнадзор: 11) реестр медизделий, 12) реестр лицензий. 13) Портал поставщиков Москвы. 14) Выгрузка организаторов — история закупок СПб. Все бесплатные и официальные, платных агрегаторов нет. Основное берём массовыми выгрузками: у ФНС капча после 6–30 поштучных запросов. У каждого поля в карточке есть ссылка на источник и дата.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Закупку загружаем файлом. Модель ранжирует кандидатов из истории (до 300 по трём каналам), ликвидированные, РНП и не-МСП в закупках для МСП отсекаются фильтрами. Данные о компаниях мы собрали в свою базу заранее. Поэтому в момент запроса сервис не зависит от капчи ФНС или недоступности ЕИС: всё берётся из базы за миллисекунды. Если по ИНН данных нет, его можно догрузить из живого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канала дают до 300 кандидатов: по коду до 200, по заказчику до 100, по тексту до 100; списки объединяются (reciprocal rank fusion). Код ОКПД2 — 9 цифр, вид XX.XX.XX.XXX. Сравниваем от общего к частному: класс, группа, подгруппа, вид, категория. Чем глубже совпадение, тем больше вес: полный код — 1,0, только группа — 0,4. Модель видит победы, участия и долю покрытых позиций отдельно на каждом уровне, поэтому совпадение по группе не равно совпадению по полному коду. Класс (2 цифры) используется в признаках «побед у этого заказчика в классе» и «побед у заказчиков того же района в классе» и в правилах роли. Группа (4 цифры, XX.XX) — основа статуса «Проверенный» и поиска новых компаний: детальнее реестры не размечены. Если в лоте много кодов, на каждом уровне берутся самые весомые коды лота. Если код не указан, работают каналы по тексту и по заказчику.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— доля влияния групп признаков по SHAP на 180 тыс. пар. Модель училась на апреле–августе 2025, настраивалась на сентябре, проверялась на октябре–декабре. Признаки считаются только по истории до даты закупки — утечки из будущего нет. Монотонность делает поведение предсказуемым: компания не проиграет из-за того, что у неё больше побед.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Тест: 88 150 закупок, октябрь–декабрь 2025, модель их не видела. Зачёт строгий: верным считается только фактический победитель. Если подходящая компания просто не подала заявку, это ошибка. Реальная полезность списка выше. Модель лучше бейзлайна на обеих площадках. В АИС ГЗ результат ниже: там в данных виден только исполнитель, проигравших почти нет, и учиться модели не на чем. Победитель в топ-50 — в 83% закупок.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Вкладки разделены, чтобы новые компании не вытесняли надёжных кандидатов и наоборот. У каждого списка свой топ. Статус всегда выводится по правилу, и правило показано рядом со статусом.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источники бесплатные, открытые и без нейросетей. Платных агрегаторов вроде СПАРК или Контур.Фокус нет. ФНС закрывает поштучные запросы капчей после 6–30 обращений. Поэтому основное берём из массовых открытых выгрузок ФНС: обходить капчу не нужно, и прогон повторяем. ИП: ФНС не публикует их финансы, поэтому данные по ИП беднее. Мы это не скрываем — в карточке поле пустое, а не выдуманное.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Жюри может открыть любую карточку и проверить любой факт по ссылке на источник. Это и есть ответ на критерий «достоверность обогащения».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Пул найден по виду деятельности и продукции. Мы проверили, что компания жива сейчас: платит налоги и имеет сотрудников. Именно это мы понимаем под «расширением пула вглубь».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Причины строятся из SHAP-вкладов модели по шаблонам — это реальный вклад признака в оценку, а не выдуманный текст. В карточке видно до 8 факторов и их знак.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живого демо (согласовать): 1. Лот медизделий → выдача → карточка производителя из «Непроверенных» с источниками. 2. Закупка только для МСП → крупные компании отфильтрованы. 3. Выгрузка.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squad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2293293"/>
            <a:ext cx="15304770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99"/>
              </a:lnSpc>
              <a:buNone/>
            </a:pPr>
            <a:r>
              <a:rPr lang="en-US" sz="6300" b="1" spc="-126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подбора контрагентов для АИС ГЗ и Электронного магазина СПб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4316313"/>
            <a:ext cx="1334262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 → ранжированный список поставщиков, производителей и дистрибьюторов. У каждого — роль, статус, причины и источники.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6368504"/>
            <a:ext cx="5308550" cy="2965996"/>
          </a:xfrm>
          <a:prstGeom prst="roundRect">
            <a:avLst>
              <a:gd name="adj" fmla="val 8992"/>
            </a:avLst>
          </a:prstGeom>
          <a:solidFill>
            <a:srgbClr val="F3F6F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6711404"/>
            <a:ext cx="500120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60"/>
              </a:lnSpc>
              <a:buNone/>
            </a:pPr>
            <a:r>
              <a:rPr lang="en-US" sz="8400" b="1" spc="-252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333500" y="7911554"/>
            <a:ext cx="468294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победитель в первых 10 строках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89650" y="6368504"/>
            <a:ext cx="5308625" cy="2965996"/>
          </a:xfrm>
          <a:prstGeom prst="roundRect">
            <a:avLst>
              <a:gd name="adj" fmla="val 8992"/>
            </a:avLst>
          </a:prstGeom>
          <a:solidFill>
            <a:srgbClr val="F3F6FF"/>
          </a:solidFill>
          <a:ln/>
        </p:spPr>
      </p:sp>
      <p:sp>
        <p:nvSpPr>
          <p:cNvPr id="9" name="Text 7"/>
          <p:cNvSpPr/>
          <p:nvPr/>
        </p:nvSpPr>
        <p:spPr>
          <a:xfrm>
            <a:off x="6870650" y="6711404"/>
            <a:ext cx="500128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60"/>
              </a:lnSpc>
              <a:buNone/>
            </a:pPr>
            <a:r>
              <a:rPr lang="en-US" sz="8400" b="1" spc="-252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×2,5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6870650" y="7911554"/>
            <a:ext cx="468302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место угадывается в 2,5 раза чаще базового правила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26875" y="6368504"/>
            <a:ext cx="5308550" cy="2965996"/>
          </a:xfrm>
          <a:prstGeom prst="roundRect">
            <a:avLst>
              <a:gd name="adj" fmla="val 8992"/>
            </a:avLst>
          </a:prstGeom>
          <a:solidFill>
            <a:srgbClr val="F3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7875" y="6711404"/>
            <a:ext cx="500120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60"/>
              </a:lnSpc>
              <a:buNone/>
            </a:pPr>
            <a:r>
              <a:rPr lang="en-US" sz="8400" b="1" spc="-252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12407875" y="7911554"/>
            <a:ext cx="4682947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источников — только открытые государственные данные, без нейросетей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67640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сервис: один сквозной поток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744614"/>
            <a:ext cx="2819028" cy="3083198"/>
          </a:xfrm>
          <a:prstGeom prst="roundRect">
            <a:avLst>
              <a:gd name="adj" fmla="val 8109"/>
            </a:avLst>
          </a:prstGeom>
          <a:solidFill>
            <a:srgbClr val="F3F6FF"/>
          </a:solidFill>
          <a:ln w="19050">
            <a:solidFill>
              <a:srgbClr val="CB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3068464"/>
            <a:ext cx="247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250" y="3530426"/>
            <a:ext cx="247228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38250" y="4073351"/>
            <a:ext cx="232372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«Извещения + ТРУ» в CSV или Excel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923928" y="4043288"/>
            <a:ext cx="3433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43474" y="2744614"/>
            <a:ext cx="2819102" cy="3083198"/>
          </a:xfrm>
          <a:prstGeom prst="roundRect">
            <a:avLst>
              <a:gd name="adj" fmla="val 8109"/>
            </a:avLst>
          </a:prstGeom>
          <a:solidFill>
            <a:srgbClr val="1C4FE8"/>
          </a:solidFill>
          <a:ln w="19050">
            <a:solidFill>
              <a:srgbClr val="1C4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224" y="3068464"/>
            <a:ext cx="24723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29224" y="3530426"/>
            <a:ext cx="24723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629224" y="4073351"/>
            <a:ext cx="232380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ранжирование LightGBM по 33 признакам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314977" y="4043288"/>
            <a:ext cx="3433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734523" y="2744614"/>
            <a:ext cx="2819028" cy="3083198"/>
          </a:xfrm>
          <a:prstGeom prst="roundRect">
            <a:avLst>
              <a:gd name="adj" fmla="val 8109"/>
            </a:avLst>
          </a:prstGeom>
          <a:solidFill>
            <a:srgbClr val="F3F6FF"/>
          </a:solidFill>
          <a:ln w="19050">
            <a:solidFill>
              <a:srgbClr val="CB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0273" y="3068464"/>
            <a:ext cx="247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020273" y="3530426"/>
            <a:ext cx="247228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Обогащение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020273" y="4073351"/>
            <a:ext cx="232372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компании по ИНН из базы реестров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705951" y="4043288"/>
            <a:ext cx="3433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1125498" y="2744614"/>
            <a:ext cx="2819028" cy="3083198"/>
          </a:xfrm>
          <a:prstGeom prst="roundRect">
            <a:avLst>
              <a:gd name="adj" fmla="val 8109"/>
            </a:avLst>
          </a:prstGeom>
          <a:solidFill>
            <a:srgbClr val="F3F6FF"/>
          </a:solidFill>
          <a:ln w="19050">
            <a:solidFill>
              <a:srgbClr val="CBD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11248" y="3068464"/>
            <a:ext cx="247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11248" y="3530426"/>
            <a:ext cx="232372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компании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1411248" y="4463876"/>
            <a:ext cx="232372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открытых реестров, вкладка «Непроверенные»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096926" y="4043288"/>
            <a:ext cx="3433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4516472" y="2744614"/>
            <a:ext cx="2819028" cy="3083198"/>
          </a:xfrm>
          <a:prstGeom prst="roundRect">
            <a:avLst>
              <a:gd name="adj" fmla="val 8109"/>
            </a:avLst>
          </a:prstGeom>
          <a:solidFill>
            <a:srgbClr val="F3F6FF"/>
          </a:solidFill>
          <a:ln w="19050">
            <a:solidFill>
              <a:srgbClr val="CB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02222" y="3068464"/>
            <a:ext cx="247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802222" y="3530426"/>
            <a:ext cx="247228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4802222" y="4073351"/>
            <a:ext cx="232372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список, карточка компании, выгрузка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" y="6513612"/>
            <a:ext cx="163830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989862"/>
            <a:ext cx="2694682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160"/>
              </a:lnSpc>
              <a:buNone/>
            </a:pPr>
            <a:r>
              <a:rPr lang="en-US" sz="8400" b="1" spc="-252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с</a:t>
            </a:r>
            <a:endParaRPr lang="en-US" sz="8400" dirty="0"/>
          </a:p>
        </p:txBody>
      </p:sp>
      <p:sp>
        <p:nvSpPr>
          <p:cNvPr id="29" name="Text 27"/>
          <p:cNvSpPr/>
          <p:nvPr/>
        </p:nvSpPr>
        <p:spPr>
          <a:xfrm>
            <a:off x="3859411" y="7066062"/>
            <a:ext cx="1355256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ответа на одну закупку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3859411" y="7607052"/>
            <a:ext cx="13552564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Реестры скачаны заранее, поэтому в момент запроса сервис не обращается к внешним сайтам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5697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Ищем кандидатов тремя путями и учитываем ОКПД2 на четырёх уровнях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552700"/>
            <a:ext cx="5308550" cy="1983060"/>
          </a:xfrm>
          <a:prstGeom prst="roundRect">
            <a:avLst>
              <a:gd name="adj" fmla="val 9606"/>
            </a:avLst>
          </a:prstGeom>
          <a:solidFill>
            <a:srgbClr val="F6F8FC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2800350"/>
            <a:ext cx="51688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коду ОКПД2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57300" y="3248025"/>
            <a:ext cx="516884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побеждал с этими кодами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489650" y="2552700"/>
            <a:ext cx="5308625" cy="1983060"/>
          </a:xfrm>
          <a:prstGeom prst="roundRect">
            <a:avLst>
              <a:gd name="adj" fmla="val 9606"/>
            </a:avLst>
          </a:prstGeom>
          <a:solidFill>
            <a:srgbClr val="F6F8FC"/>
          </a:solidFill>
          <a:ln/>
        </p:spPr>
      </p:sp>
      <p:sp>
        <p:nvSpPr>
          <p:cNvPr id="7" name="Text 5"/>
          <p:cNvSpPr/>
          <p:nvPr/>
        </p:nvSpPr>
        <p:spPr>
          <a:xfrm>
            <a:off x="6794450" y="2800350"/>
            <a:ext cx="51689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заказчику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94450" y="3248025"/>
            <a:ext cx="483999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уже работал с этим заказчиком, сначала в классе ОКПД2 лота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026875" y="2552700"/>
            <a:ext cx="5308550" cy="1983060"/>
          </a:xfrm>
          <a:prstGeom prst="roundRect">
            <a:avLst>
              <a:gd name="adj" fmla="val 9606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12331675" y="2800350"/>
            <a:ext cx="51688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тексту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31675" y="3248025"/>
            <a:ext cx="483991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чьи прошлые закупки похожи по описанию (TF-IDF + SVD, косинусная близость)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5338837"/>
            <a:ext cx="163830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662687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ОКПД2: код из 9 цифр, сравниваем от общего к частному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6148462"/>
            <a:ext cx="180213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глубже совпадение, тем выше вес. Победы, участия и покрытие позиций модель учитывает на каждом уровне отдельно.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6761857"/>
            <a:ext cx="2807345" cy="2572643"/>
          </a:xfrm>
          <a:prstGeom prst="roundRect">
            <a:avLst>
              <a:gd name="adj" fmla="val 7405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6990457"/>
            <a:ext cx="2585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· 2 цифры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81100" y="7390507"/>
            <a:ext cx="258515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B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81100" y="7871520"/>
            <a:ext cx="2426345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 заказчиком и районом, роль компании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74145" y="7829104"/>
            <a:ext cx="3166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4228877" y="6761857"/>
            <a:ext cx="2807419" cy="2572643"/>
          </a:xfrm>
          <a:prstGeom prst="roundRect">
            <a:avLst>
              <a:gd name="adj" fmla="val 7405"/>
            </a:avLst>
          </a:prstGeom>
          <a:solidFill>
            <a:srgbClr val="F3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57477" y="6990457"/>
            <a:ext cx="25852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· 4 цифры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457477" y="7390507"/>
            <a:ext cx="258524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B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32.50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4457477" y="7871520"/>
            <a:ext cx="2426419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</a:t>
            </a:r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</a:t>
            </a:r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статус «Проверенный», поиск новых компаний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50596" y="7829104"/>
            <a:ext cx="3166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7505328" y="6761857"/>
            <a:ext cx="2807345" cy="2572643"/>
          </a:xfrm>
          <a:prstGeom prst="roundRect">
            <a:avLst>
              <a:gd name="adj" fmla="val 7405"/>
            </a:avLst>
          </a:prstGeom>
          <a:solidFill>
            <a:srgbClr val="E6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33928" y="6990457"/>
            <a:ext cx="2585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Подгруппа · 5 цифр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733928" y="7390507"/>
            <a:ext cx="258515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B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32.50.1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7733928" y="7871520"/>
            <a:ext cx="2585159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</a:t>
            </a:r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26973" y="7829104"/>
            <a:ext cx="3166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10781705" y="6761857"/>
            <a:ext cx="2807345" cy="2572643"/>
          </a:xfrm>
          <a:prstGeom prst="roundRect">
            <a:avLst>
              <a:gd name="adj" fmla="val 7405"/>
            </a:avLst>
          </a:prstGeom>
          <a:solidFill>
            <a:srgbClr val="CBD8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010305" y="6990457"/>
            <a:ext cx="2585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· 6 цифр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010305" y="7390507"/>
            <a:ext cx="258515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B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32.50.13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1010305" y="7871520"/>
            <a:ext cx="2585159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</a:t>
            </a:r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03350" y="7829104"/>
            <a:ext cx="3166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4058081" y="6761857"/>
            <a:ext cx="3277419" cy="2572643"/>
          </a:xfrm>
          <a:prstGeom prst="roundRect">
            <a:avLst>
              <a:gd name="adj" fmla="val 7405"/>
            </a:avLst>
          </a:prstGeom>
          <a:solidFill>
            <a:srgbClr val="1C4FE8"/>
          </a:solidFill>
          <a:ln/>
        </p:spPr>
      </p:sp>
      <p:sp>
        <p:nvSpPr>
          <p:cNvPr id="36" name="Text 34"/>
          <p:cNvSpPr/>
          <p:nvPr/>
        </p:nvSpPr>
        <p:spPr>
          <a:xfrm>
            <a:off x="14286681" y="6990457"/>
            <a:ext cx="310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· 9 цифр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4286681" y="7390507"/>
            <a:ext cx="31022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32.50.13.190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4286681" y="7871520"/>
            <a:ext cx="310224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</a:t>
            </a:r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 </a:t>
            </a:r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полный код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5697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оценивает пару «закупка × компания» по 33 понятным признакам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52500" y="2657475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и активность компании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15200" y="2628900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2628900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1C4FE8"/>
          </a:solidFill>
          <a:ln/>
        </p:spPr>
      </p:sp>
      <p:sp>
        <p:nvSpPr>
          <p:cNvPr id="6" name="Text 4"/>
          <p:cNvSpPr/>
          <p:nvPr/>
        </p:nvSpPr>
        <p:spPr>
          <a:xfrm>
            <a:off x="16211550" y="2643188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286125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Совпадение по ОКПД2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315200" y="3257550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3257550"/>
            <a:ext cx="4727228" cy="419100"/>
          </a:xfrm>
          <a:prstGeom prst="roundRect">
            <a:avLst>
              <a:gd name="adj" fmla="val 22727"/>
            </a:avLst>
          </a:prstGeom>
          <a:solidFill>
            <a:srgbClr val="1C4FE8"/>
          </a:solidFill>
          <a:ln/>
        </p:spPr>
      </p:sp>
      <p:sp>
        <p:nvSpPr>
          <p:cNvPr id="10" name="Text 8"/>
          <p:cNvSpPr/>
          <p:nvPr/>
        </p:nvSpPr>
        <p:spPr>
          <a:xfrm>
            <a:off x="16211550" y="3271838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3914775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 заказчиком и районом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315200" y="3886200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3886200"/>
            <a:ext cx="4474741" cy="419100"/>
          </a:xfrm>
          <a:prstGeom prst="roundRect">
            <a:avLst>
              <a:gd name="adj" fmla="val 22727"/>
            </a:avLst>
          </a:prstGeom>
          <a:solidFill>
            <a:srgbClr val="1C4FE8"/>
          </a:solidFill>
          <a:ln/>
        </p:spPr>
      </p:sp>
      <p:sp>
        <p:nvSpPr>
          <p:cNvPr id="14" name="Text 12"/>
          <p:cNvSpPr/>
          <p:nvPr/>
        </p:nvSpPr>
        <p:spPr>
          <a:xfrm>
            <a:off x="16211550" y="3900488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" y="4543425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Похожесть описания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315200" y="4514850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514850"/>
            <a:ext cx="3978548" cy="419100"/>
          </a:xfrm>
          <a:prstGeom prst="roundRect">
            <a:avLst>
              <a:gd name="adj" fmla="val 22727"/>
            </a:avLst>
          </a:prstGeom>
          <a:solidFill>
            <a:srgbClr val="1C4FE8"/>
          </a:solidFill>
          <a:ln/>
        </p:spPr>
      </p:sp>
      <p:sp>
        <p:nvSpPr>
          <p:cNvPr id="18" name="Text 16"/>
          <p:cNvSpPr/>
          <p:nvPr/>
        </p:nvSpPr>
        <p:spPr>
          <a:xfrm>
            <a:off x="16211550" y="4529138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52500" y="5143500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цены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52500" y="5543550"/>
            <a:ext cx="67056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НМЦК в обычном для компании диапазоне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5282505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5282505"/>
            <a:ext cx="2237333" cy="419100"/>
          </a:xfrm>
          <a:prstGeom prst="roundRect">
            <a:avLst>
              <a:gd name="adj" fmla="val 22727"/>
            </a:avLst>
          </a:prstGeom>
          <a:solidFill>
            <a:srgbClr val="4F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16211550" y="5296793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52500" y="6050235"/>
            <a:ext cx="6705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закупки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" y="6450285"/>
            <a:ext cx="627888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 самого лота: площадка, число позиций, ограничение для МСП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0" y="6337846"/>
            <a:ext cx="8705850" cy="419100"/>
          </a:xfrm>
          <a:prstGeom prst="roundRect">
            <a:avLst>
              <a:gd name="adj" fmla="val 22727"/>
            </a:avLst>
          </a:prstGeom>
          <a:solidFill>
            <a:srgbClr val="F3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6337846"/>
            <a:ext cx="748680" cy="419100"/>
          </a:xfrm>
          <a:prstGeom prst="roundRect">
            <a:avLst>
              <a:gd name="adj" fmla="val 22727"/>
            </a:avLst>
          </a:prstGeom>
          <a:solidFill>
            <a:srgbClr val="4F7DFF"/>
          </a:solidFill>
          <a:ln/>
        </p:spPr>
      </p:sp>
      <p:sp>
        <p:nvSpPr>
          <p:cNvPr id="28" name="Text 26"/>
          <p:cNvSpPr/>
          <p:nvPr/>
        </p:nvSpPr>
        <p:spPr>
          <a:xfrm>
            <a:off x="16211550" y="6352133"/>
            <a:ext cx="1123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952500" y="8141047"/>
            <a:ext cx="8077200" cy="1193453"/>
          </a:xfrm>
          <a:prstGeom prst="roundRect">
            <a:avLst>
              <a:gd name="adj" fmla="val 15962"/>
            </a:avLst>
          </a:prstGeom>
          <a:solidFill>
            <a:srgbClr val="F6F8FC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" y="8388697"/>
            <a:ext cx="7709916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LambdaRank, монотонные ограничения: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highlight>
                  <a:srgbClr val="F6F8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больше побед по коду или у заказчика никогда не понижают оценку.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258300" y="8141047"/>
            <a:ext cx="8077200" cy="1193453"/>
          </a:xfrm>
          <a:prstGeom prst="roundRect">
            <a:avLst>
              <a:gd name="adj" fmla="val 15962"/>
            </a:avLst>
          </a:prstGeom>
          <a:solidFill>
            <a:srgbClr val="F6F8FC"/>
          </a:solidFill>
          <a:ln/>
        </p:spPr>
      </p:sp>
      <p:sp>
        <p:nvSpPr>
          <p:cNvPr id="32" name="Text 30"/>
          <p:cNvSpPr/>
          <p:nvPr/>
        </p:nvSpPr>
        <p:spPr>
          <a:xfrm>
            <a:off x="9563100" y="8388697"/>
            <a:ext cx="7709916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локальные модели.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highlight>
                  <a:srgbClr val="F6F8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Внешних API нейросетей нет, эмбеддингов из интернета нет.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5697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находит победителя в 2,5 раза чаще базового правила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3543300"/>
            <a:ext cx="16383000" cy="19050"/>
          </a:xfrm>
          <a:prstGeom prst="rect">
            <a:avLst/>
          </a:prstGeom>
          <a:solidFill>
            <a:srgbClr val="D3D9E6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3086100"/>
            <a:ext cx="7145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820025" y="2800350"/>
            <a:ext cx="29432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Победитель на 1-м месте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0" y="3086100"/>
            <a:ext cx="2724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Победитель в топ-10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401675" y="3086100"/>
            <a:ext cx="1571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935200" y="3086100"/>
            <a:ext cx="2095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500" y="4381500"/>
            <a:ext cx="163830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3790950"/>
            <a:ext cx="71456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по ОКПД2 (бейзлайн ТЗ)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620000" y="3790950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10,9%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668000" y="3790950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38,8%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01675" y="3790950"/>
            <a:ext cx="15716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0,20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935200" y="37909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5219700"/>
            <a:ext cx="163830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4629150"/>
            <a:ext cx="71456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выигрывал у заказчика → ОКПД2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620000" y="4629150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15,1%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668000" y="4629150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401675" y="4629150"/>
            <a:ext cx="15716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4935200" y="46291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57300" y="5467350"/>
            <a:ext cx="71456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канала без модели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620000" y="5467350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30,8%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668000" y="5467350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60,3%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401675" y="5467350"/>
            <a:ext cx="15716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935200" y="54673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0,44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6057900"/>
            <a:ext cx="16383000" cy="923925"/>
          </a:xfrm>
          <a:prstGeom prst="roundRect">
            <a:avLst>
              <a:gd name="adj" fmla="val 14433"/>
            </a:avLst>
          </a:prstGeom>
          <a:solidFill>
            <a:srgbClr val="1C4FE8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300" y="6324600"/>
            <a:ext cx="71456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модель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620000" y="6324600"/>
            <a:ext cx="3143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37,7%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0668000" y="6324600"/>
            <a:ext cx="27241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69,3%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3401675" y="6324600"/>
            <a:ext cx="15716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0,48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4935200" y="6324600"/>
            <a:ext cx="20955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0,54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952500" y="8048625"/>
            <a:ext cx="8077200" cy="1285875"/>
          </a:xfrm>
          <a:prstGeom prst="roundRect">
            <a:avLst>
              <a:gd name="adj" fmla="val 14815"/>
            </a:avLst>
          </a:prstGeom>
          <a:solidFill>
            <a:srgbClr val="F3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1257300" y="8527256"/>
            <a:ext cx="45485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Электронный магазин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5773341" y="8315325"/>
            <a:ext cx="15203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40,9%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5773341" y="8772525"/>
            <a:ext cx="15203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1-м месте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36507" y="8315325"/>
            <a:ext cx="12645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71,8%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7536507" y="8772525"/>
            <a:ext cx="12645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топ-10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258300" y="8048625"/>
            <a:ext cx="8077200" cy="1285875"/>
          </a:xfrm>
          <a:prstGeom prst="roundRect">
            <a:avLst>
              <a:gd name="adj" fmla="val 14815"/>
            </a:avLst>
          </a:prstGeom>
          <a:solidFill>
            <a:srgbClr val="F3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9563100" y="8527256"/>
            <a:ext cx="45485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АИС ГЗ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4079141" y="8315325"/>
            <a:ext cx="15203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33,8%</a:t>
            </a:r>
            <a:endParaRPr lang="en-US" sz="3300" dirty="0"/>
          </a:p>
        </p:txBody>
      </p:sp>
      <p:sp>
        <p:nvSpPr>
          <p:cNvPr id="41" name="Text 39"/>
          <p:cNvSpPr/>
          <p:nvPr/>
        </p:nvSpPr>
        <p:spPr>
          <a:xfrm>
            <a:off x="14079141" y="8772525"/>
            <a:ext cx="15203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1-м месте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842307" y="8315325"/>
            <a:ext cx="12645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66,3%</a:t>
            </a:r>
            <a:endParaRPr lang="en-US" sz="3300" dirty="0"/>
          </a:p>
        </p:txBody>
      </p:sp>
      <p:sp>
        <p:nvSpPr>
          <p:cNvPr id="43" name="Text 41"/>
          <p:cNvSpPr/>
          <p:nvPr/>
        </p:nvSpPr>
        <p:spPr>
          <a:xfrm>
            <a:off x="15842307" y="8772525"/>
            <a:ext cx="12645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топ-10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67640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вкладки — две разные задачи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24050"/>
            <a:ext cx="8077200" cy="6347520"/>
          </a:xfrm>
          <a:prstGeom prst="roundRect">
            <a:avLst>
              <a:gd name="adj" fmla="val 4202"/>
            </a:avLst>
          </a:prstGeom>
          <a:ln w="19050">
            <a:solidFill>
              <a:srgbClr val="E6EA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14450" y="2247900"/>
            <a:ext cx="80886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14450" y="2762250"/>
            <a:ext cx="757389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тыс. компаний с историей закупок СПб за 2024–2025 годы. Ранжирует модель, оценка 0–100.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314450" y="3602236"/>
            <a:ext cx="73533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" name="Shape 5"/>
          <p:cNvSpPr/>
          <p:nvPr/>
        </p:nvSpPr>
        <p:spPr>
          <a:xfrm>
            <a:off x="1314450" y="3792736"/>
            <a:ext cx="1730053" cy="376238"/>
          </a:xfrm>
          <a:prstGeom prst="roundRect">
            <a:avLst>
              <a:gd name="adj" fmla="val 25316"/>
            </a:avLst>
          </a:prstGeom>
          <a:solidFill>
            <a:srgbClr val="E6F6EE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3849886"/>
            <a:ext cx="15395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4245173"/>
            <a:ext cx="7573899" cy="692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 более побед в группе ОКПД2 лота (</a:t>
            </a:r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XX.XX </a:t>
            </a:r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последняя — не раньше чем 12 месяцев назад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14450" y="5070872"/>
            <a:ext cx="2290837" cy="376238"/>
          </a:xfrm>
          <a:prstGeom prst="roundRect">
            <a:avLst>
              <a:gd name="adj" fmla="val 25316"/>
            </a:avLst>
          </a:prstGeom>
          <a:solidFill>
            <a:srgbClr val="E6EDFF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5128022"/>
            <a:ext cx="21003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Активный участник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4450" y="5523309"/>
            <a:ext cx="8088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участвовал в закупках этой группы, побед меньше трёх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14450" y="6014740"/>
            <a:ext cx="2149525" cy="376238"/>
          </a:xfrm>
          <a:prstGeom prst="roundRect">
            <a:avLst>
              <a:gd name="adj" fmla="val 25316"/>
            </a:avLst>
          </a:prstGeom>
          <a:solidFill>
            <a:srgbClr val="FFF4E3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6071890"/>
            <a:ext cx="19590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проверки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14450" y="6467177"/>
            <a:ext cx="757389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риск: компания моложе года, выручка упала более чем вдвое, отрицательный капитал, налоговый долг, массовый адрес или руководитель, недостоверные сведения, запись в РНП в прошлом; или статус в ЕГРЮЛ не подтверждён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58300" y="1924050"/>
            <a:ext cx="8077200" cy="6347520"/>
          </a:xfrm>
          <a:prstGeom prst="roundRect">
            <a:avLst>
              <a:gd name="adj" fmla="val 4202"/>
            </a:avLst>
          </a:prstGeom>
          <a:solidFill>
            <a:srgbClr val="F6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228850"/>
            <a:ext cx="81305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Непроверенные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01200" y="2743200"/>
            <a:ext cx="813054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для СПб компании из открытых реестров.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01200" y="3248918"/>
            <a:ext cx="73914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3439418"/>
            <a:ext cx="1714426" cy="376238"/>
          </a:xfrm>
          <a:prstGeom prst="roundRect">
            <a:avLst>
              <a:gd name="adj" fmla="val 25316"/>
            </a:avLst>
          </a:prstGeom>
          <a:solidFill>
            <a:srgbClr val="E6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9734550" y="3496568"/>
            <a:ext cx="15239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в пуле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0" y="3987105"/>
            <a:ext cx="761314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Истории закупок в СПб нет. Компании найдены в открытых реестрах по группе ОКПД2 лота.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01200" y="4851946"/>
            <a:ext cx="7613142" cy="108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проверены опытом работы в СПб, но проверены юридически: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действующие, не в РНП, в 2025 году платили налоги или имели сотрудников.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601200" y="6073006"/>
            <a:ext cx="7613142" cy="1082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их не оценивает, потому что истории закупок нет. Порядок задаёт сила доказательства,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не выше 75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ниже, чем у кандидатов с историей.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8462070"/>
            <a:ext cx="16383000" cy="986730"/>
          </a:xfrm>
          <a:prstGeom prst="roundRect">
            <a:avLst>
              <a:gd name="adj" fmla="val 15445"/>
            </a:avLst>
          </a:prstGeom>
          <a:solidFill>
            <a:srgbClr val="FD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1257300" y="8633520"/>
            <a:ext cx="173507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Жёсткие фильтры для обеих вкладок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57300" y="8957370"/>
            <a:ext cx="1735074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выдачу не попадают ликвидированные компании, компании из РНП, а в закупках только для МСП — компании не из реестра МСП.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04"/>
              </a:lnSpc>
              <a:buNone/>
            </a:pPr>
            <a:r>
              <a:rPr lang="en-US" sz="4200" b="1" spc="-63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компании собираем из 14 открытых государственных источников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2410718"/>
            <a:ext cx="16383000" cy="476250"/>
          </a:xfrm>
          <a:prstGeom prst="roundRect">
            <a:avLst>
              <a:gd name="adj" fmla="val 20000"/>
            </a:avLst>
          </a:prstGeom>
          <a:solidFill>
            <a:srgbClr val="F3F6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0596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72100" y="250596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берём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0" y="250596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361086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63168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ЕГРЮЛ/ЕГРИП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72100" y="2963168"/>
            <a:ext cx="69852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статус, ОГРН, дата регистрации, адрес, руководитель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0" y="2963168"/>
            <a:ext cx="49053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отсечь ликвидированных; возраст компании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344293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96593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ФНС «Прозрачный бизнес»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72100" y="3696593"/>
            <a:ext cx="69852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ОКВЭД, недостоверность сведений, массовый адрес и руководитель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82500" y="3696593"/>
            <a:ext cx="49053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479196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43001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МСП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72100" y="443001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МСП, ОКВЭД, лицензии, продукция, регион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82500" y="443001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«только МСП», роль, поиск новых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5525393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877693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ГИР БО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72100" y="4877693"/>
            <a:ext cx="69852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прибыль, капитал по годам, статус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82500" y="4877693"/>
            <a:ext cx="49053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«Требует проверки»: падение выручки, отрицательный капитал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597306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61111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данные ФНС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2100" y="561111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численность, уплаченные налоги, недоимки, штрафы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82500" y="561111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реальной деятельности, риски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6420743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605879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РНП ЕИС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72100" y="6058793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о недобросовестности по 44-ФЗ, 223-ФЗ, 94-ФЗ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82500" y="6058793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C0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жёсткий фильтр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686841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650646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Контракты ЕИС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72100" y="650646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телефон, почта, почтовый адрес из карточки контракта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82500" y="650646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 для приглашения к закупке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2500" y="7601843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6954143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ГИСП / реестр промпродукции (ПП 719)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72100" y="6954143"/>
            <a:ext cx="69852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продукция с кодами ОКПД2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382500" y="6954143"/>
            <a:ext cx="49053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«производитель»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2500" y="804951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768756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российского ПО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72100" y="768756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правообладатели ПО, коды ОКПД2, сайт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382500" y="768756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 ПО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52500" y="8497193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4" name="Text 42"/>
          <p:cNvSpPr/>
          <p:nvPr/>
        </p:nvSpPr>
        <p:spPr>
          <a:xfrm>
            <a:off x="1143000" y="813524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Росздравнадзор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72100" y="8135243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медизделий, лицензии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382500" y="8135243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производители медизделий, фарма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52500" y="8944868"/>
            <a:ext cx="16383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8582918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поставщиков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372100" y="8582918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госконтракты компаний в других регионах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382500" y="8582918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 профиля новых компаний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43000" y="9030593"/>
            <a:ext cx="4400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организаторов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372100" y="9030593"/>
            <a:ext cx="7459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закупок СПб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382500" y="9030593"/>
            <a:ext cx="523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дистрибьютора, широта кодов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67640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поля в карточке есть источник и дата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52500" y="2000250"/>
            <a:ext cx="9801947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Храним факты, а не готовую карточку: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506935"/>
            <a:ext cx="7102971" cy="523875"/>
          </a:xfrm>
          <a:prstGeom prst="roundRect">
            <a:avLst>
              <a:gd name="adj" fmla="val 21818"/>
            </a:avLst>
          </a:prstGeom>
          <a:solidFill>
            <a:srgbClr val="F3F6FF"/>
          </a:solidFill>
          <a:ln w="19050">
            <a:solidFill>
              <a:srgbClr val="CBD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40285"/>
            <a:ext cx="69350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ИНН — поле — источник — значение — дата получения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3297510"/>
            <a:ext cx="8910861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545160"/>
            <a:ext cx="9178187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источники расходятся (например, ОКВЭД в МСП и в ГИР БО), карточка показывает оба значения. Приоритет — у более свежего и официального источника.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4931866"/>
            <a:ext cx="8910861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5179516"/>
            <a:ext cx="9178187" cy="78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РНП скачан целиком: </a:t>
            </a:r>
            <a:pPr algn="l" indent="0" marL="0">
              <a:lnSpc>
                <a:spcPct val="120615"/>
              </a:lnSpc>
              <a:buNone/>
            </a:pPr>
            <a:r>
              <a:rPr lang="en-US" sz="21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тыс. записей 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Проверка по ИНН — мгновенная, без запроса к ЕИС.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6197650"/>
            <a:ext cx="8910861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6445300"/>
            <a:ext cx="917818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источник недоступен, выдача не ломается: карточка помечается «не обогащено», данные догружаются отдельно.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20561" y="2000250"/>
            <a:ext cx="7014939" cy="5443538"/>
          </a:xfrm>
          <a:prstGeom prst="roundRect">
            <a:avLst>
              <a:gd name="adj" fmla="val 4899"/>
            </a:avLst>
          </a:prstGeom>
          <a:solidFill>
            <a:srgbClr val="F6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701561" y="2343150"/>
            <a:ext cx="687823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поставщиков-юрлиц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701561" y="2976563"/>
            <a:ext cx="322952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0701561" y="3681413"/>
            <a:ext cx="2935932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01561" y="3681413"/>
            <a:ext cx="2759720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01561" y="3852863"/>
            <a:ext cx="32295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18493" y="2976563"/>
            <a:ext cx="32296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14018493" y="3681413"/>
            <a:ext cx="2936007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18493" y="3681413"/>
            <a:ext cx="2730475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21" name="Text 19"/>
          <p:cNvSpPr/>
          <p:nvPr/>
        </p:nvSpPr>
        <p:spPr>
          <a:xfrm>
            <a:off x="14018493" y="3852863"/>
            <a:ext cx="32296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ОКВЭД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01561" y="4452938"/>
            <a:ext cx="322952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10701561" y="5157788"/>
            <a:ext cx="2935932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01561" y="5157788"/>
            <a:ext cx="2701007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25" name="Text 23"/>
          <p:cNvSpPr/>
          <p:nvPr/>
        </p:nvSpPr>
        <p:spPr>
          <a:xfrm>
            <a:off x="10701561" y="5329238"/>
            <a:ext cx="32295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018493" y="4452938"/>
            <a:ext cx="32296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14018493" y="5157788"/>
            <a:ext cx="2936007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4018493" y="5157788"/>
            <a:ext cx="2583656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29" name="Text 27"/>
          <p:cNvSpPr/>
          <p:nvPr/>
        </p:nvSpPr>
        <p:spPr>
          <a:xfrm>
            <a:off x="14018493" y="5329238"/>
            <a:ext cx="32296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численность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01561" y="5929313"/>
            <a:ext cx="322952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10701561" y="6634163"/>
            <a:ext cx="2935932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01561" y="6634163"/>
            <a:ext cx="2436763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33" name="Text 31"/>
          <p:cNvSpPr/>
          <p:nvPr/>
        </p:nvSpPr>
        <p:spPr>
          <a:xfrm>
            <a:off x="10701561" y="6805613"/>
            <a:ext cx="32295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018493" y="5929313"/>
            <a:ext cx="32296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35" name="Shape 33"/>
          <p:cNvSpPr/>
          <p:nvPr/>
        </p:nvSpPr>
        <p:spPr>
          <a:xfrm>
            <a:off x="14018493" y="6634163"/>
            <a:ext cx="2936007" cy="76200"/>
          </a:xfrm>
          <a:prstGeom prst="roundRect">
            <a:avLst>
              <a:gd name="adj" fmla="val 50000"/>
            </a:avLst>
          </a:prstGeom>
          <a:solidFill>
            <a:srgbClr val="E6ED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4018493" y="6634163"/>
            <a:ext cx="2936007" cy="76200"/>
          </a:xfrm>
          <a:prstGeom prst="roundRect">
            <a:avLst>
              <a:gd name="adj" fmla="val 50000"/>
            </a:avLst>
          </a:prstGeom>
          <a:solidFill>
            <a:srgbClr val="1C4FE8"/>
          </a:solidFill>
          <a:ln/>
        </p:spPr>
      </p:sp>
      <p:sp>
        <p:nvSpPr>
          <p:cNvPr id="37" name="Text 35"/>
          <p:cNvSpPr/>
          <p:nvPr/>
        </p:nvSpPr>
        <p:spPr>
          <a:xfrm>
            <a:off x="14018493" y="6805613"/>
            <a:ext cx="32296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РНП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67640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Находим компании, которых ещё нет в закупках СПб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10237961" cy="1813322"/>
          </a:xfrm>
          <a:prstGeom prst="roundRect">
            <a:avLst>
              <a:gd name="adj" fmla="val 10506"/>
            </a:avLst>
          </a:prstGeom>
          <a:solidFill>
            <a:srgbClr val="F3F6F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2621161"/>
            <a:ext cx="28289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90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pPr algn="l" indent="0" marL="0">
              <a:lnSpc>
                <a:spcPct val="86957"/>
              </a:lnSpc>
              <a:buNone/>
            </a:pPr>
            <a:r>
              <a:rPr lang="en-US" sz="2400" b="1" spc="-90" kern="0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4095750" y="2266950"/>
            <a:ext cx="699360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 вне выгрузки: реестр МСП, реестры производителей и медизделий, лицензии, госконтракты других регионов. Каждая привязана к группам ОКПД2 с доказательством.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33500" y="3965972"/>
            <a:ext cx="9475961" cy="1818084"/>
          </a:xfrm>
          <a:prstGeom prst="roundRect">
            <a:avLst>
              <a:gd name="adj" fmla="val 10478"/>
            </a:avLst>
          </a:prstGeom>
          <a:solidFill>
            <a:srgbClr val="FDEEEE"/>
          </a:solidFill>
          <a:ln/>
        </p:spPr>
      </p:sp>
      <p:sp>
        <p:nvSpPr>
          <p:cNvPr id="7" name="Text 5"/>
          <p:cNvSpPr/>
          <p:nvPr/>
        </p:nvSpPr>
        <p:spPr>
          <a:xfrm>
            <a:off x="1638300" y="4589264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90" kern="0" dirty="0">
                <a:solidFill>
                  <a:srgbClr val="C0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−316</a:t>
            </a:r>
            <a:pPr algn="l" indent="0" marL="0">
              <a:lnSpc>
                <a:spcPct val="86957"/>
              </a:lnSpc>
              <a:buNone/>
            </a:pPr>
            <a:r>
              <a:rPr lang="en-US" sz="2400" b="1" spc="-90" kern="0" dirty="0">
                <a:solidFill>
                  <a:srgbClr val="C0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4095750" y="4232672"/>
            <a:ext cx="6601178" cy="1322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по свежим данным ФНС 2025: </a:t>
            </a:r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остаются компании с уплаченными налогами или сотрудниками за 2025 год. Исключены ликвидированные, компании из РНП и «пустышки», у каждой причина.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14500" y="5936456"/>
            <a:ext cx="8713961" cy="2486025"/>
          </a:xfrm>
          <a:prstGeom prst="roundRect">
            <a:avLst>
              <a:gd name="adj" fmla="val 7663"/>
            </a:avLst>
          </a:prstGeom>
          <a:solidFill>
            <a:srgbClr val="1C4FE8"/>
          </a:solidFill>
          <a:ln/>
        </p:spPr>
      </p:sp>
      <p:sp>
        <p:nvSpPr>
          <p:cNvPr id="10" name="Text 8"/>
          <p:cNvSpPr/>
          <p:nvPr/>
        </p:nvSpPr>
        <p:spPr>
          <a:xfrm>
            <a:off x="2019300" y="6203156"/>
            <a:ext cx="16968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pPr algn="l" indent="0" marL="0">
              <a:lnSpc>
                <a:spcPct val="86957"/>
              </a:lnSpc>
              <a:buNone/>
            </a:pPr>
            <a:r>
              <a:rPr lang="en-US" sz="24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3752404" y="6450806"/>
            <a:ext cx="47997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активных компаний СПб и ЛО в пуле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2019300" y="6946106"/>
            <a:ext cx="8104361" cy="19050"/>
          </a:xfrm>
          <a:prstGeom prst="rect">
            <a:avLst/>
          </a:prstGeom>
          <a:solidFill>
            <a:srgbClr val="4F7D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19300" y="7136606"/>
            <a:ext cx="288777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тыс.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19300" y="7565231"/>
            <a:ext cx="270401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сильных (от 5 сотрудников)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8854" y="7136606"/>
            <a:ext cx="288777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тыс.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758854" y="7565231"/>
            <a:ext cx="2887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407" y="7136606"/>
            <a:ext cx="288777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тыс.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498407" y="7565231"/>
            <a:ext cx="270401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ИП с лицензиями или продукцией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47661" y="2000250"/>
            <a:ext cx="62565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доказательства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647661" y="2581275"/>
            <a:ext cx="5687764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47661" y="2846040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1C4FE8"/>
          </a:solidFill>
          <a:ln/>
        </p:spPr>
      </p:sp>
      <p:sp>
        <p:nvSpPr>
          <p:cNvPr id="22" name="Text 20"/>
          <p:cNvSpPr/>
          <p:nvPr/>
        </p:nvSpPr>
        <p:spPr>
          <a:xfrm>
            <a:off x="11609561" y="284604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562061" y="2828925"/>
            <a:ext cx="491656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госконтракты и регистрация в СПб/ЛО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647661" y="3777555"/>
            <a:ext cx="5687764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47661" y="4042321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4F7D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609561" y="4042321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562061" y="4025205"/>
            <a:ext cx="491656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госконтракты или запись в реестре производителей/лицензий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647661" y="4973836"/>
            <a:ext cx="5687764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47661" y="5238601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CBD8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609561" y="5238601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2562061" y="5221486"/>
            <a:ext cx="491656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СПб/ЛО и профильный основной ОКВЭД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5697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компания в списке и почему у неё такая роль — видно в каждой строке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52500" y="2552700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2938463"/>
            <a:ext cx="820178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ОКВЭД 10–32 того же класса, что и лот, или продукция в ГИСП, реестре ПО или медизделий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768923"/>
            <a:ext cx="79629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959423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Дистрибьютор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4345186"/>
            <a:ext cx="820178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ОКВЭД 46 (опт) и/или широкая история: ≥10 разных кодов в классе или ≥30 кодов из ≥5 классов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5175647"/>
            <a:ext cx="79629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5366147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Поставщик-исполнитель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5751909"/>
            <a:ext cx="8759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остальные: розница, услуги, ремонт, строительство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7418115"/>
            <a:ext cx="7962900" cy="1916385"/>
          </a:xfrm>
          <a:prstGeom prst="roundRect">
            <a:avLst>
              <a:gd name="adj" fmla="val 9941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7627665"/>
            <a:ext cx="8172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9200" y="8008665"/>
            <a:ext cx="157162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12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0350" y="8008665"/>
            <a:ext cx="643318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сошлись правило по ОКВЭД и реестр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9200" y="8412510"/>
            <a:ext cx="157162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00350" y="8412510"/>
            <a:ext cx="643318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сработало одно правило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9200" y="8816355"/>
            <a:ext cx="157162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A3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00350" y="8816355"/>
            <a:ext cx="643318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выведена только из истории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72600" y="2552700"/>
            <a:ext cx="7962900" cy="4442817"/>
          </a:xfrm>
          <a:prstGeom prst="roundRect">
            <a:avLst>
              <a:gd name="adj" fmla="val 4288"/>
            </a:avLst>
          </a:prstGeom>
          <a:solidFill>
            <a:srgbClr val="F6F8FC"/>
          </a:solidFill>
          <a:ln w="19050">
            <a:solidFill>
              <a:srgbClr val="CBD8F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1156677" y="4605040"/>
            <a:ext cx="48342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 · пример строки выдачи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72600" y="7186017"/>
            <a:ext cx="820178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оценка, роль с доказательством («ОКВЭД 46.46; поставлял 37 кодов класса 21»), статус с правилом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7940278"/>
            <a:ext cx="820178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причины из вкладов модели: «Предмет похож на его прошлые контракты (сходство 0,86)», «34 победы в классе у заказчиков того же района»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2600" y="9014520"/>
            <a:ext cx="8759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риски: «Не работал с этим заказчиком»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5697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файла закупки до списка для приглашения — за минуту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628900"/>
            <a:ext cx="5283175" cy="3657600"/>
          </a:xfrm>
          <a:prstGeom prst="roundRect">
            <a:avLst>
              <a:gd name="adj" fmla="val 5208"/>
            </a:avLst>
          </a:prstGeom>
          <a:solidFill>
            <a:srgbClr val="F6F8FC"/>
          </a:solidFill>
          <a:ln w="19050">
            <a:solidFill>
              <a:srgbClr val="CBD8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969568" y="4288631"/>
            <a:ext cx="137386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6453188"/>
            <a:ext cx="2245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5182" y="6438900"/>
            <a:ext cx="12317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6919913"/>
            <a:ext cx="58114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или Excel, тип таблицы определяется сам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02375" y="2628900"/>
            <a:ext cx="5283175" cy="3657600"/>
          </a:xfrm>
          <a:prstGeom prst="roundRect">
            <a:avLst>
              <a:gd name="adj" fmla="val 5208"/>
            </a:avLst>
          </a:prstGeom>
          <a:solidFill>
            <a:srgbClr val="F6F8FC"/>
          </a:solidFill>
          <a:ln w="19050">
            <a:solidFill>
              <a:srgbClr val="CBD8F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519443" y="4288631"/>
            <a:ext cx="137386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02375" y="6453188"/>
            <a:ext cx="2245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65057" y="6438900"/>
            <a:ext cx="10993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502375" y="6919913"/>
            <a:ext cx="54416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лоты, вкладки «Проверенные» и «Непроверенные», оценка, роль, статус, причины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52250" y="2628900"/>
            <a:ext cx="5283250" cy="3657600"/>
          </a:xfrm>
          <a:prstGeom prst="roundRect">
            <a:avLst>
              <a:gd name="adj" fmla="val 5208"/>
            </a:avLst>
          </a:prstGeom>
          <a:solidFill>
            <a:srgbClr val="F6F8FC"/>
          </a:solidFill>
          <a:ln w="19050">
            <a:solidFill>
              <a:srgbClr val="CBD8F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4069392" y="4288631"/>
            <a:ext cx="137386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C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052250" y="6453188"/>
            <a:ext cx="2245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14932" y="6438900"/>
            <a:ext cx="28062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компании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52250" y="6919913"/>
            <a:ext cx="5441747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реквизиты, руководитель, ОКВЭД, финансы по годам, история закупок СПб, риски, контакты, ссылки на ЕГРЮЛ/ЕИС/ГИР БО, источник и дата каждого поля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8767763"/>
            <a:ext cx="16383000" cy="190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9005888"/>
            <a:ext cx="342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09700" y="8996363"/>
            <a:ext cx="38772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результата в CSV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67640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67" kern="0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развёртыванию и росту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308550" cy="7334250"/>
          </a:xfrm>
          <a:prstGeom prst="roundRect">
            <a:avLst>
              <a:gd name="adj" fmla="val 5024"/>
            </a:avLst>
          </a:prstGeom>
          <a:solidFill>
            <a:srgbClr val="F3F6F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381250"/>
            <a:ext cx="500120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333500" y="2981325"/>
            <a:ext cx="4546550" cy="19050"/>
          </a:xfrm>
          <a:prstGeom prst="rect">
            <a:avLst/>
          </a:prstGeom>
          <a:solidFill>
            <a:srgbClr val="CBD8F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190875"/>
            <a:ext cx="468294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Compose: PostgreSQL, API обогащения, сервис, модель.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093815"/>
            <a:ext cx="468294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без состояния — масштабируется горизонтально.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4996755"/>
            <a:ext cx="46829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 база реестров пересобираются офлайн и подменяются целиком.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6246391"/>
            <a:ext cx="46829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реестров — пакетными выгрузками ФНС и ЕИС по расписанию, не поштучно.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89650" y="2000250"/>
            <a:ext cx="5308625" cy="7334250"/>
          </a:xfrm>
          <a:prstGeom prst="roundRect">
            <a:avLst>
              <a:gd name="adj" fmla="val 5024"/>
            </a:avLst>
          </a:prstGeom>
          <a:solidFill>
            <a:srgbClr val="FFF4E3"/>
          </a:solidFill>
          <a:ln/>
        </p:spPr>
      </p:sp>
      <p:sp>
        <p:nvSpPr>
          <p:cNvPr id="11" name="Text 9"/>
          <p:cNvSpPr/>
          <p:nvPr/>
        </p:nvSpPr>
        <p:spPr>
          <a:xfrm>
            <a:off x="6870650" y="2381250"/>
            <a:ext cx="50012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Честные ограничения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870650" y="2981325"/>
            <a:ext cx="4546625" cy="19050"/>
          </a:xfrm>
          <a:prstGeom prst="rect">
            <a:avLst/>
          </a:prstGeom>
          <a:solidFill>
            <a:srgbClr val="F2D9B0"/>
          </a:solidFill>
          <a:ln/>
        </p:spPr>
      </p:sp>
      <p:sp>
        <p:nvSpPr>
          <p:cNvPr id="13" name="Text 11"/>
          <p:cNvSpPr/>
          <p:nvPr/>
        </p:nvSpPr>
        <p:spPr>
          <a:xfrm>
            <a:off x="6870650" y="3190875"/>
            <a:ext cx="468302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АИС ГЗ мало проигравших в данных — качество там ниже.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70650" y="4093815"/>
            <a:ext cx="500128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 ИП ФНС не публикует.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70650" y="4650060"/>
            <a:ext cx="468302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 есть только у компаний с контрактами в ЕИС.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26875" y="2000250"/>
            <a:ext cx="5308550" cy="7334250"/>
          </a:xfrm>
          <a:prstGeom prst="roundRect">
            <a:avLst>
              <a:gd name="adj" fmla="val 5024"/>
            </a:avLst>
          </a:prstGeom>
          <a:solidFill>
            <a:srgbClr val="F6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12407875" y="2381250"/>
            <a:ext cx="500120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2407875" y="2981325"/>
            <a:ext cx="4546550" cy="19050"/>
          </a:xfrm>
          <a:prstGeom prst="rect">
            <a:avLst/>
          </a:prstGeom>
          <a:solidFill>
            <a:srgbClr val="D3D9E6"/>
          </a:solidFill>
          <a:ln/>
        </p:spPr>
      </p:sp>
      <p:sp>
        <p:nvSpPr>
          <p:cNvPr id="19" name="Text 17"/>
          <p:cNvSpPr/>
          <p:nvPr/>
        </p:nvSpPr>
        <p:spPr>
          <a:xfrm>
            <a:off x="12407875" y="3190875"/>
            <a:ext cx="468294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отклика «подходит / не подходит» для дообучения.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407875" y="4093815"/>
            <a:ext cx="468294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в АИС ГЗ и Электронный магазин через API.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07875" y="4996755"/>
            <a:ext cx="500120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85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ГРЛС для лекарств.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2026-10-02T12:20:42Z</dcterms:created>
  <dcterms:modified xsi:type="dcterms:W3CDTF">2026-10-02T12:20:42Z</dcterms:modified>
</cp:coreProperties>
</file>